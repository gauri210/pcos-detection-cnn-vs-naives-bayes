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Automated PCOS Detection from Ultrasound Imagery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Comparative Analysis of Naive Bayes and Convolutional Neural Networks</a:t>
            </a:r>
          </a:p>
          <a:p/>
          <a:p>
            <a:r>
              <a:t>Author: Gauri</a:t>
            </a:r>
          </a:p>
          <a:p>
            <a:r>
              <a:t>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I.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1800"/>
            </a:pPr>
            <a:r>
              <a:t>Polycystic Ovary Syndrome (PCOS) is a common hormonal disorder among women.</a:t>
            </a:r>
          </a:p>
          <a:p>
            <a:pPr>
              <a:spcAft>
                <a:spcPts val="1400"/>
              </a:spcAft>
              <a:defRPr sz="1800"/>
            </a:pPr>
            <a:r>
              <a:t>Early detection through ultrasound imagery is crucial for effective treatment.</a:t>
            </a:r>
          </a:p>
          <a:p>
            <a:pPr>
              <a:spcAft>
                <a:spcPts val="1400"/>
              </a:spcAft>
              <a:defRPr sz="1800"/>
            </a:pPr>
            <a:r>
              <a:t>Manual interpretation by doctors can be subjective and time-consuming.</a:t>
            </a:r>
          </a:p>
          <a:p>
            <a:pPr>
              <a:spcAft>
                <a:spcPts val="1400"/>
              </a:spcAft>
              <a:defRPr sz="1800"/>
            </a:pPr>
            <a:r>
              <a:t>Goal: Build an automated computer program to classify ovarian ultrasound images as Normal or Abnormal.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II. Dataset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pPr>
              <a:spcAft>
                <a:spcPts val="1400"/>
              </a:spcAft>
              <a:defRPr sz="1800"/>
            </a:pPr>
            <a:r>
              <a:t>Custom dataset split into training (3,200 images) and test sets (1,468 images).</a:t>
            </a:r>
          </a:p>
          <a:p>
            <a:pPr>
              <a:spcAft>
                <a:spcPts val="1400"/>
              </a:spcAft>
              <a:defRPr sz="1800"/>
            </a:pPr>
            <a:r>
              <a:t>Class 0: Normal ovaries (903 training images).</a:t>
            </a:r>
          </a:p>
          <a:p>
            <a:pPr>
              <a:spcAft>
                <a:spcPts val="1400"/>
              </a:spcAft>
              <a:defRPr sz="1800"/>
            </a:pPr>
            <a:r>
              <a:t>Class 1: Abnormal / PCOS ovaries (2,297 training images).</a:t>
            </a:r>
          </a:p>
          <a:p>
            <a:pPr>
              <a:spcAft>
                <a:spcPts val="1400"/>
              </a:spcAft>
              <a:defRPr sz="1800"/>
            </a:pPr>
            <a:r>
              <a:t>The dataset reflects real-world clinical imbalances.</a:t>
            </a:r>
          </a:p>
        </p:txBody>
      </p:sp>
      <p:pic>
        <p:nvPicPr>
          <p:cNvPr id="4" name="Picture 3" descr="graph_cell_6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828800"/>
            <a:ext cx="4114800" cy="167702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III. Class Distribution Profile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pPr>
              <a:spcAft>
                <a:spcPts val="1400"/>
              </a:spcAft>
              <a:defRPr sz="1800"/>
            </a:pPr>
            <a:r>
              <a:t>Significant categorical imbalance inherent in the clinical repository.</a:t>
            </a:r>
          </a:p>
          <a:p>
            <a:pPr>
              <a:spcAft>
                <a:spcPts val="1400"/>
              </a:spcAft>
              <a:defRPr sz="1800"/>
            </a:pPr>
            <a:r>
              <a:t>Normal cases: 903 | Abnormal cases: 2,297.</a:t>
            </a:r>
          </a:p>
          <a:p>
            <a:pPr>
              <a:spcAft>
                <a:spcPts val="1400"/>
              </a:spcAft>
              <a:defRPr sz="1800"/>
            </a:pPr>
            <a:r>
              <a:t>Requires robust metrics (like Recall) to evaluate effectively.</a:t>
            </a:r>
          </a:p>
        </p:txBody>
      </p:sp>
      <p:pic>
        <p:nvPicPr>
          <p:cNvPr id="4" name="Picture 3" descr="graph_cell_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828800"/>
            <a:ext cx="4114800" cy="273540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IV. Image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1800"/>
            </a:pPr>
            <a:r>
              <a:t>1. Grayscale Conversion: Removes unnecessary color information.</a:t>
            </a:r>
          </a:p>
          <a:p>
            <a:pPr>
              <a:spcAft>
                <a:spcPts val="1400"/>
              </a:spcAft>
              <a:defRPr sz="1800"/>
            </a:pPr>
            <a:r>
              <a:t>2. Resizing: Resizes all images to 128x128 pixels for uniformity.</a:t>
            </a:r>
          </a:p>
          <a:p>
            <a:pPr>
              <a:spcAft>
                <a:spcPts val="1400"/>
              </a:spcAft>
              <a:defRPr sz="1800"/>
            </a:pPr>
            <a:r>
              <a:t>3. Normalization: Scales pixel values to a standard range (Z-score normalization).</a:t>
            </a:r>
          </a:p>
          <a:p>
            <a:pPr>
              <a:spcAft>
                <a:spcPts val="1400"/>
              </a:spcAft>
              <a:defRPr sz="1800"/>
            </a:pPr>
            <a:r>
              <a:t>4. Flattening: Converts 2D images into 1D vectors for the Naive Bayes model.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V. Structural Difference Heatmap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0" cy="2286000"/>
          </a:xfrm>
        </p:spPr>
        <p:txBody>
          <a:bodyPr/>
          <a:lstStyle/>
          <a:p>
            <a:pPr>
              <a:spcAft>
                <a:spcPts val="1400"/>
              </a:spcAft>
              <a:defRPr sz="1800"/>
            </a:pPr>
            <a:r>
              <a:t>Visual structural comparison of Average Normal vs Average Abnormal Ultrasounds.</a:t>
            </a:r>
          </a:p>
          <a:p>
            <a:pPr>
              <a:spcAft>
                <a:spcPts val="1400"/>
              </a:spcAft>
              <a:defRPr sz="1800"/>
            </a:pPr>
            <a:r>
              <a:t>Heatmap exposes subtle regions of morphological variance.</a:t>
            </a:r>
          </a:p>
          <a:p>
            <a:pPr>
              <a:spcAft>
                <a:spcPts val="1400"/>
              </a:spcAft>
              <a:defRPr sz="1800"/>
            </a:pPr>
            <a:r>
              <a:t>Confirms that pathogenic features (follicular distributions) are spatially correlated.</a:t>
            </a:r>
          </a:p>
        </p:txBody>
      </p:sp>
      <p:pic>
        <p:nvPicPr>
          <p:cNvPr id="4" name="Picture 3" descr="graph_cell_10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657600"/>
            <a:ext cx="7315200" cy="252077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VI. Pixel Intensity Distributions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pPr>
              <a:spcAft>
                <a:spcPts val="1400"/>
              </a:spcAft>
              <a:defRPr sz="1800"/>
            </a:pPr>
            <a:r>
              <a:t>Kernel Density Estimation across Normal and Abnormal classes.</a:t>
            </a:r>
          </a:p>
          <a:p>
            <a:pPr>
              <a:spcAft>
                <a:spcPts val="1400"/>
              </a:spcAft>
              <a:defRPr sz="1800"/>
            </a:pPr>
            <a:r>
              <a:t>Significant overlap demonstrates non-linear structural complexities.</a:t>
            </a:r>
          </a:p>
          <a:p>
            <a:pPr>
              <a:spcAft>
                <a:spcPts val="1400"/>
              </a:spcAft>
              <a:defRPr sz="1800"/>
            </a:pPr>
            <a:r>
              <a:t>Highlights why baseline probabilistic classification (Naive Bayes) will struggle.</a:t>
            </a:r>
          </a:p>
        </p:txBody>
      </p:sp>
      <p:pic>
        <p:nvPicPr>
          <p:cNvPr id="4" name="Picture 3" descr="graph_cell_12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828800"/>
            <a:ext cx="4114800" cy="265078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VII. Gaussian Naive Bayes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1800"/>
            </a:pPr>
            <a:r>
              <a:t>Serves as the traditional machine learning baseline.</a:t>
            </a:r>
          </a:p>
          <a:p>
            <a:pPr>
              <a:spcAft>
                <a:spcPts val="1400"/>
              </a:spcAft>
              <a:defRPr sz="1800"/>
            </a:pPr>
            <a:r>
              <a:t>Treats every pixel independently without considering its neighbors.</a:t>
            </a:r>
          </a:p>
          <a:p>
            <a:pPr>
              <a:spcAft>
                <a:spcPts val="1400"/>
              </a:spcAft>
              <a:defRPr sz="1800"/>
            </a:pPr>
            <a:r>
              <a:t>Limited because it ignores the spatial shapes and patterns in the image.</a:t>
            </a:r>
          </a:p>
          <a:p>
            <a:pPr>
              <a:spcAft>
                <a:spcPts val="1400"/>
              </a:spcAft>
              <a:defRPr sz="1800"/>
            </a:pPr>
            <a:r>
              <a:t>Struggles to reliably identify clustered structures like PCOS follicles.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VIII. Convolutional Neural Network (CNN)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1800"/>
            </a:pPr>
            <a:r>
              <a:t>Designed to exploit local spatial correlations within a grid-like topology.</a:t>
            </a:r>
          </a:p>
          <a:p>
            <a:pPr>
              <a:spcAft>
                <a:spcPts val="1400"/>
              </a:spcAft>
              <a:defRPr sz="1800"/>
            </a:pPr>
            <a:r>
              <a:t>Convolutional Blocks: 4 layers with progressively increasing filters (32 -&gt; 256) utilizing 3x3 kernels.</a:t>
            </a:r>
          </a:p>
          <a:p>
            <a:pPr>
              <a:spcAft>
                <a:spcPts val="1400"/>
              </a:spcAft>
              <a:defRPr sz="1800"/>
            </a:pPr>
            <a:r>
              <a:t>Activation &amp; Pooling: ReLU activations coupled with 2x2 Max Pooling.</a:t>
            </a:r>
          </a:p>
          <a:p>
            <a:pPr>
              <a:spcAft>
                <a:spcPts val="1400"/>
              </a:spcAft>
              <a:defRPr sz="1800"/>
            </a:pPr>
            <a:r>
              <a:t>Regularization: Batch Normalization and 50% Dropout regularization.</a:t>
            </a:r>
          </a:p>
          <a:p>
            <a:pPr>
              <a:spcAft>
                <a:spcPts val="1400"/>
              </a:spcAft>
              <a:defRPr sz="1800"/>
            </a:pPr>
            <a:r>
              <a:t>Output: Softmax dense layer for final binary classification.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IX. Results and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1800"/>
            </a:pPr>
            <a:r>
              <a:t>Focus lies heavily on Recall (Sensitivity) given the clinical context of medical screening.</a:t>
            </a:r>
          </a:p>
          <a:p>
            <a:pPr>
              <a:spcAft>
                <a:spcPts val="1400"/>
              </a:spcAft>
              <a:defRPr sz="1800"/>
            </a:pPr>
            <a:r>
              <a:t>Minimizing False Negatives ensures critical pathological structures are not overlooked.</a:t>
            </a:r>
          </a:p>
          <a:p>
            <a:pPr>
              <a:spcAft>
                <a:spcPts val="1400"/>
              </a:spcAft>
              <a:defRPr sz="1800"/>
            </a:pPr>
            <a:r>
              <a:t>Performance validated across standard categorical dimensions: Accuracy, Precision, Recall, and F1-Score.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X. Gaussian Naive Bayes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pPr>
              <a:spcAft>
                <a:spcPts val="1400"/>
              </a:spcAft>
              <a:defRPr sz="1800"/>
            </a:pPr>
            <a:r>
              <a:t>Accuracy: 61.19%</a:t>
            </a:r>
          </a:p>
          <a:p>
            <a:pPr>
              <a:spcAft>
                <a:spcPts val="1400"/>
              </a:spcAft>
              <a:defRPr sz="1800"/>
            </a:pPr>
            <a:r>
              <a:t>Precision: 86.20%</a:t>
            </a:r>
          </a:p>
          <a:p>
            <a:pPr>
              <a:spcAft>
                <a:spcPts val="1400"/>
              </a:spcAft>
              <a:defRPr sz="1800"/>
            </a:pPr>
            <a:r>
              <a:t>Recall: 54.68%</a:t>
            </a:r>
          </a:p>
          <a:p>
            <a:pPr>
              <a:spcAft>
                <a:spcPts val="1400"/>
              </a:spcAft>
              <a:defRPr sz="1800"/>
            </a:pPr>
            <a:r>
              <a:t>F1-Score: 66.92%</a:t>
            </a:r>
          </a:p>
          <a:p>
            <a:pPr>
              <a:spcAft>
                <a:spcPts val="1400"/>
              </a:spcAft>
              <a:defRPr sz="1800"/>
            </a:pPr>
            <a:r>
              <a:t>Critically hampered by False Negatives due to feature independence assumptions.</a:t>
            </a:r>
          </a:p>
        </p:txBody>
      </p:sp>
      <p:pic>
        <p:nvPicPr>
          <p:cNvPr id="4" name="Picture 3" descr="graph_cell_14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828800"/>
            <a:ext cx="4114800" cy="323266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XI. Convolutional Network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pPr>
              <a:spcAft>
                <a:spcPts val="1400"/>
              </a:spcAft>
              <a:defRPr sz="1800"/>
            </a:pPr>
            <a:r>
              <a:t>Accuracy: 78.78%</a:t>
            </a:r>
          </a:p>
          <a:p>
            <a:pPr>
              <a:spcAft>
                <a:spcPts val="1400"/>
              </a:spcAft>
              <a:defRPr sz="1800"/>
            </a:pPr>
            <a:r>
              <a:t>Precision: 77.59%</a:t>
            </a:r>
          </a:p>
          <a:p>
            <a:pPr>
              <a:spcAft>
                <a:spcPts val="1400"/>
              </a:spcAft>
              <a:defRPr sz="1800"/>
            </a:pPr>
            <a:r>
              <a:t>Recall: 99.04%</a:t>
            </a:r>
          </a:p>
          <a:p>
            <a:pPr>
              <a:spcAft>
                <a:spcPts val="1400"/>
              </a:spcAft>
              <a:defRPr sz="1800"/>
            </a:pPr>
            <a:r>
              <a:t>F1-Score: 87.01%</a:t>
            </a:r>
          </a:p>
          <a:p>
            <a:pPr>
              <a:spcAft>
                <a:spcPts val="1400"/>
              </a:spcAft>
              <a:defRPr sz="1800"/>
            </a:pPr>
            <a:r>
              <a:t>Demonstrates robust spatial feature extraction and minimal False Negatives.</a:t>
            </a:r>
          </a:p>
        </p:txBody>
      </p:sp>
      <p:pic>
        <p:nvPicPr>
          <p:cNvPr id="4" name="Picture 3" descr="graph_cell_26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828800"/>
            <a:ext cx="4114800" cy="323266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XII. CNN Optimization Stability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0" cy="2286000"/>
          </a:xfrm>
        </p:spPr>
        <p:txBody>
          <a:bodyPr/>
          <a:lstStyle/>
          <a:p>
            <a:pPr>
              <a:spcAft>
                <a:spcPts val="1400"/>
              </a:spcAft>
              <a:defRPr sz="1800"/>
            </a:pPr>
            <a:r>
              <a:t>Trained over 50 epochs utilizing the Adam optimizer.</a:t>
            </a:r>
          </a:p>
          <a:p>
            <a:pPr>
              <a:spcAft>
                <a:spcPts val="1400"/>
              </a:spcAft>
              <a:defRPr sz="1800"/>
            </a:pPr>
            <a:r>
              <a:t>Steady convergence patterns across loss gradients without aggressive geometric spiking.</a:t>
            </a:r>
          </a:p>
          <a:p>
            <a:pPr>
              <a:spcAft>
                <a:spcPts val="1400"/>
              </a:spcAft>
              <a:defRPr sz="1800"/>
            </a:pPr>
            <a:r>
              <a:t>Excellent generalization verified by validation metrics.</a:t>
            </a:r>
          </a:p>
        </p:txBody>
      </p:sp>
      <p:pic>
        <p:nvPicPr>
          <p:cNvPr id="4" name="Picture 3" descr="graph_cell_23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657600"/>
            <a:ext cx="7315200" cy="239943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XIII. Performance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pPr>
              <a:spcAft>
                <a:spcPts val="1400"/>
              </a:spcAft>
              <a:defRPr sz="1800"/>
            </a:pPr>
            <a:r>
              <a:t>The CNN yielded a massive +17.59% absolute increase in Accuracy.</a:t>
            </a:r>
          </a:p>
          <a:p>
            <a:pPr>
              <a:spcAft>
                <a:spcPts val="1400"/>
              </a:spcAft>
              <a:defRPr sz="1800"/>
            </a:pPr>
            <a:r>
              <a:t>Crucially, the CNN delivered a +44.36% surge in Recall capability.</a:t>
            </a:r>
          </a:p>
          <a:p>
            <a:pPr>
              <a:spcAft>
                <a:spcPts val="1400"/>
              </a:spcAft>
              <a:defRPr sz="1800"/>
            </a:pPr>
            <a:r>
              <a:t>The deep spatial feature mapping drastically outperformed probabilistic, pixel-wise estimation.</a:t>
            </a:r>
          </a:p>
        </p:txBody>
      </p:sp>
      <p:pic>
        <p:nvPicPr>
          <p:cNvPr id="4" name="Picture 3" descr="graph_cell_31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828800"/>
            <a:ext cx="4114800" cy="245057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XIV. Conclusion and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1800"/>
            </a:pPr>
            <a:r>
              <a:t>Deep convolutional architectures are fundamentally better equipped for CAD systems in gynecology.</a:t>
            </a:r>
          </a:p>
          <a:p>
            <a:pPr>
              <a:spcAft>
                <a:spcPts val="1400"/>
              </a:spcAft>
              <a:defRPr sz="1800"/>
            </a:pPr>
            <a:r>
              <a:t>Successfully bypassed the theoretical limitations of pixel-wise probability mapping.</a:t>
            </a:r>
          </a:p>
          <a:p>
            <a:pPr>
              <a:spcAft>
                <a:spcPts val="1400"/>
              </a:spcAft>
              <a:defRPr sz="1800"/>
            </a:pPr>
            <a:r>
              <a:t>Future vectors: Integrating Transfer Learning (EfficientNet, Vision Transformers).</a:t>
            </a:r>
          </a:p>
          <a:p>
            <a:pPr>
              <a:spcAft>
                <a:spcPts val="1400"/>
              </a:spcAft>
              <a:defRPr sz="1800"/>
            </a:pPr>
            <a:r>
              <a:t>Future vectors: Deploying spatial attention mechanisms (like Grad-CAM) to establish visible structural accountability.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